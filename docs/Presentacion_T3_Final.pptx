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61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3A444C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323C43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3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IA EN ESTRUCTURAS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la Resistencia a Compresión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Concreto mediante Machine Learning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el método empírico ACI 211.1 e interpretabilidad SHAP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2011680" cy="0"/>
          </a:xfrm>
          <a:prstGeom prst="line">
            <a:avLst/>
          </a:prstGeom>
          <a:noFill/>
          <a:ln w="38100">
            <a:solidFill>
              <a:srgbClr val="E3A73E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Juan Felipe Crisostomo Ramos , Roberto Daniel Clavijo Zavaleta, Hans Cristian Sanchez Viguria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Kurt Soncco Sinchi  |  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Motivación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822960" cy="822960"/>
          </a:xfrm>
          <a:prstGeom prst="ellipse">
            <a:avLst/>
          </a:prstGeom>
          <a:solidFill>
            <a:srgbClr val="5C7A96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6" name="Image 0" descr="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1507846"/>
            <a:ext cx="641909" cy="641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17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a compresión determina el diseño de todo elemento de concreto armado.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822960" cy="822960"/>
          </a:xfrm>
          <a:prstGeom prst="ellipse">
            <a:avLst/>
          </a:prstGeom>
          <a:solidFill>
            <a:srgbClr val="5C7A96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9" name="Image 1" descr="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6" y="2605126"/>
            <a:ext cx="641909" cy="641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514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verificación exige ensayos destructivos normalizados (NTP 339.034 / ASTM C39).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611880"/>
            <a:ext cx="822960" cy="822960"/>
          </a:xfrm>
          <a:prstGeom prst="ellipse">
            <a:avLst/>
          </a:prstGeom>
          <a:solidFill>
            <a:srgbClr val="5C7A96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2" name="Image 2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6" y="3702406"/>
            <a:ext cx="641909" cy="641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611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obras con control de calidad limitado, esto retrasa la corrección temprana de una mezcla deficiente.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406640" y="141732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5" name="Text 10"/>
          <p:cNvSpPr/>
          <p:nvPr/>
        </p:nvSpPr>
        <p:spPr>
          <a:xfrm>
            <a:off x="7406640" y="17373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7200" dirty="0"/>
          </a:p>
        </p:txBody>
      </p:sp>
      <p:sp>
        <p:nvSpPr>
          <p:cNvPr id="16" name="Text 11"/>
          <p:cNvSpPr/>
          <p:nvPr/>
        </p:nvSpPr>
        <p:spPr>
          <a:xfrm>
            <a:off x="740664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772400" y="3246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tiempo estándar de espera del ensayo de resistencia a los 28 días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solidFill>
            <a:srgbClr val="EAEFF2"/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predecir la resistencia a partir de la dosificación, sin depender exclusivamente del ensayo destructivo.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Antecedentes y Nuestra Diferenciación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(1998)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Modeló este mismo dataset con redes neuronales artificiales — el primer antecedente sobre este conjunto de datos.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 et al. (2011)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Compararon SVM, ANN y árboles de decisión sobre el mismo dataset. R² entre 0.85 y 0.92.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BF2DF"/>
          </a:solidFill>
          <a:ln w="19050">
            <a:solidFill>
              <a:srgbClr val="E3A73E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aporta nuestro proyecto más allá de replicar esa comparación de precisión?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685800" cy="68580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4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" y="4921758"/>
            <a:ext cx="534924" cy="5349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48006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Comparación empírica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método tradicional ACI 211.1 (Ley de Abrams), para cuantificar la ganancia práctica del ML.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9360" y="4846320"/>
            <a:ext cx="685800" cy="68580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7" name="Image 1" descr="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798" y="4921758"/>
            <a:ext cx="534924" cy="5349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48006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Interpretabilidad SHAP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variables priorizar según el rango de resistencia buscado — accionable en obra.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Calidad de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Compressive Strength — UCI Machine Learning Repository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Shape 5"/>
          <p:cNvSpPr/>
          <p:nvPr/>
        </p:nvSpPr>
        <p:spPr>
          <a:xfrm>
            <a:off x="1531620" y="1920240"/>
            <a:ext cx="731520" cy="7315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8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87" y="2000707"/>
            <a:ext cx="570586" cy="5705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Shape 9"/>
          <p:cNvSpPr/>
          <p:nvPr/>
        </p:nvSpPr>
        <p:spPr>
          <a:xfrm>
            <a:off x="4274820" y="1920240"/>
            <a:ext cx="731520" cy="7315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3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87" y="200070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52044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7" name="Shape 13"/>
          <p:cNvSpPr/>
          <p:nvPr/>
        </p:nvSpPr>
        <p:spPr>
          <a:xfrm>
            <a:off x="7018020" y="1920240"/>
            <a:ext cx="731520" cy="7315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8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487" y="2000707"/>
            <a:ext cx="570586" cy="5705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26364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869680" y="16916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FE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2" name="Shape 17"/>
          <p:cNvSpPr/>
          <p:nvPr/>
        </p:nvSpPr>
        <p:spPr>
          <a:xfrm>
            <a:off x="9761220" y="1920240"/>
            <a:ext cx="731520" cy="7315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23" name="Image 3" descr="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1687" y="2000707"/>
            <a:ext cx="570586" cy="5705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900684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duplicadas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(ensayos repetidos)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variables predictoras: cemento, escoria de alto horno, cenizas volantes, agua, superplastificante, agregado grueso, agregado fino y edad de curado. Variable objetivo: resistencia a compresión (MPa).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166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AEFF2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8" name="Text 22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25 duplicados son ensayos repetidos de una misma mezcla en el laboratorio original — no errores de captura. Se conservan y se evalúa su efecto en la estabilidad del modelo (marco VDS).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Correlación</a:t>
            </a:r>
            <a:endParaRPr lang="en-US" sz="3000" dirty="0"/>
          </a:p>
        </p:txBody>
      </p:sp>
      <p:pic>
        <p:nvPicPr>
          <p:cNvPr id="5" name="Image 0" descr="figure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760720" cy="5074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536192"/>
            <a:ext cx="128016" cy="128016"/>
          </a:xfrm>
          <a:prstGeom prst="ellipse">
            <a:avLst/>
          </a:prstGeom>
          <a:solidFill>
            <a:srgbClr val="E3A73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7" name="Text 4"/>
          <p:cNvSpPr/>
          <p:nvPr/>
        </p:nvSpPr>
        <p:spPr>
          <a:xfrm>
            <a:off x="6949440" y="1463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Cemento: </a:t>
            </a:r>
            <a:r>
              <a:rPr lang="en-US" sz="13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más fuerte con la resistencia (r = 0.50)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75120" y="2587752"/>
            <a:ext cx="128016" cy="128016"/>
          </a:xfrm>
          <a:prstGeom prst="ellipse">
            <a:avLst/>
          </a:prstGeom>
          <a:solidFill>
            <a:srgbClr val="E3A73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Text 6"/>
          <p:cNvSpPr/>
          <p:nvPr/>
        </p:nvSpPr>
        <p:spPr>
          <a:xfrm>
            <a:off x="6949440" y="2514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Agua: </a:t>
            </a:r>
            <a:r>
              <a:rPr lang="en-US" sz="13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 más relevante (r = -0.29), coherente con la Ley de Abrams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3639312"/>
            <a:ext cx="128016" cy="128016"/>
          </a:xfrm>
          <a:prstGeom prst="ellipse">
            <a:avLst/>
          </a:prstGeom>
          <a:solidFill>
            <a:srgbClr val="E3A73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1" name="Text 8"/>
          <p:cNvSpPr/>
          <p:nvPr/>
        </p:nvSpPr>
        <p:spPr>
          <a:xfrm>
            <a:off x="6949440" y="3566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variable: </a:t>
            </a:r>
            <a:r>
              <a:rPr lang="en-US" sz="13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|r| = 0.5 individualmente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4617720"/>
            <a:ext cx="4846320" cy="1691640"/>
          </a:xfrm>
          <a:prstGeom prst="roundRect">
            <a:avLst>
              <a:gd name="adj" fmla="val 5405"/>
            </a:avLst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3" name="Text 10"/>
          <p:cNvSpPr/>
          <p:nvPr/>
        </p:nvSpPr>
        <p:spPr>
          <a:xfrm>
            <a:off x="690372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clave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3720" y="507492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depende de la interacción conjunta de varias variables — esto justifica usar modelos no lineales como Random Forest en vez de regresión lineal simple.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Protocolo de Validación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con random_state = 42 fijo, reportado para reproducibilidad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80% de entrenamiento, solo para elegir hiperparámetros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474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final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XGBoost con los mejores hiperparámetros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5262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MAE calculados exclusivamente sobre el 20% de prueba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óptimos (GridSearchCV)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74520"/>
          <a:ext cx="475488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Hiperparámetros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min_samples_leaf=1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learning_rate=0.1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766560" y="3977640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EAEFF2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0" name="Text 17"/>
          <p:cNvSpPr/>
          <p:nvPr/>
        </p:nvSpPr>
        <p:spPr>
          <a:xfrm>
            <a:off x="699516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Veridical Data Science (VDS)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95160" y="448056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Predictibilidad: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 en la física de hidratación del cemento
</a:t>
            </a:r>
            <a:r>
              <a:rPr lang="en-US" sz="11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Computabilidad: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pequeño, iteración rápida de hiperparámetros
</a:t>
            </a:r>
            <a:r>
              <a:rPr lang="en-US" sz="11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Estabilidad: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 con y sin las filas duplicadas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Comparación de Modelos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548640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(MPa)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(MPa)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Empírico (ACI 211.1)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566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obtuvo el mejor desempeño, superando a Random Forest y al método empírico tradicional en todas las métricas.</a:t>
            </a:r>
            <a:endParaRPr lang="en-US" sz="1300" dirty="0"/>
          </a:p>
        </p:txBody>
      </p:sp>
      <p:pic>
        <p:nvPicPr>
          <p:cNvPr id="7" name="Image 0" descr="figures/model_comparis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2340864"/>
          </a:xfrm>
          <a:prstGeom prst="rect">
            <a:avLst/>
          </a:prstGeom>
        </p:spPr>
      </p:pic>
      <p:sp>
        <p:nvSpPr>
          <p:cNvPr id="5" name="Shape 4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Text 5"/>
          <p:cNvSpPr/>
          <p:nvPr/>
        </p:nvSpPr>
        <p:spPr>
          <a:xfrm>
            <a:off x="914400" y="47091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3474720" y="4709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reducción de RMSE del mejor modelo ML (XGBoost) frente al método empírico tradicional ACI 211.1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vs. Valor Real</a:t>
            </a:r>
            <a:endParaRPr lang="en-US" sz="3000" dirty="0"/>
          </a:p>
        </p:txBody>
      </p:sp>
      <p:pic>
        <p:nvPicPr>
          <p:cNvPr id="5" name="Image 0" descr="figures/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512064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se agrupan cerca de la línea de predicción perfecta.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09360" y="20574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dispersión solo en los extremos de resistencia muy baja o muy alta — zonas con menos datos de entrenamiento.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310896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EAEFF2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Text 6"/>
          <p:cNvSpPr/>
          <p:nvPr/>
        </p:nvSpPr>
        <p:spPr>
          <a:xfrm>
            <a:off x="65379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consistente con la literatura?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3703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R² de 0.917 cae dentro del rango 0.85–0.92 reportado por Chou et al. (2011) sobre este mismo dataset — confirma la validez del pipeline implementado.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3796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a diferencia de ese antecedente, aquí cuantificamos además la ganancia frente al método empírico real de obra.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 Estabilidad (Marco VDS)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sensible el modelo a las 25 filas duplicadas identificadas en el EDA?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858000" cy="1508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(MPa)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(MPa)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duplicados (pipeline reportado)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duplicados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749040"/>
            <a:ext cx="822960" cy="822960"/>
          </a:xfrm>
          <a:prstGeom prst="ellipse">
            <a:avLst/>
          </a:prstGeom>
          <a:solidFill>
            <a:srgbClr val="5A8F5F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3839566"/>
            <a:ext cx="641909" cy="641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70332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moderada. </a:t>
            </a:r>
            <a:r>
              <a:rPr lang="en-US" sz="14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varía de 0.917 a 0.937 — una diferencia pequeña que respalda la robustez del modelo, conforme al pilar de Estabilidad del marco VDS presentado desde T1.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EFF2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1" name="Text 7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del marco PCS: Predictibilidad + Computabilidad + Estabilidad, definido desde T1 (Yu &amp; Barter, 2024)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Interpretabilidad: Importancia Global (SHAP)</a:t>
            </a:r>
            <a:endParaRPr lang="en-US" sz="2600" dirty="0"/>
          </a:p>
        </p:txBody>
      </p:sp>
      <p:pic>
        <p:nvPicPr>
          <p:cNvPr id="5" name="Image 0" descr="figures/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400800" cy="3447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3716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Cemento dominan la predicción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23760" y="19659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la cinética de hidratación del cemento: el proceso avanza en el tiempo, así que 'cuánto ha curado' importa incluso más que 'cuánto cemento tiene'.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23760" y="3566160"/>
            <a:ext cx="4297680" cy="2651760"/>
          </a:xfrm>
          <a:prstGeom prst="roundRect">
            <a:avLst>
              <a:gd name="adj" fmla="val 3448"/>
            </a:avLst>
          </a:prstGeom>
          <a:solidFill>
            <a:srgbClr val="2B333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Text 6"/>
          <p:cNvSpPr/>
          <p:nvPr/>
        </p:nvSpPr>
        <p:spPr>
          <a:xfrm>
            <a:off x="745236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agregados casi no importan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52360" y="4069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la práctica: dan volumen y textura, pero no controlan la resistencia mecánica del concreto endurecido.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5074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gráfico responde directamente a la pregunta del docente sobre interpretabilidad accionable para dosificación.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Resistencia a Compresión del Concreto — 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por Rango de Resistencia Objetivo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más útil para decisiones reales de dosificación en obra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394960" cy="2286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Escoria A.H.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605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E3A73E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49377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del Agua aumenta con la resistencia objetivo: de 2.31 (baja) a 4.50 (alta) — el control de la relación agua/cemento es más crítico en concretos de alto desempeño.</a:t>
            </a:r>
            <a:endParaRPr lang="en-US" sz="1300" dirty="0"/>
          </a:p>
        </p:txBody>
      </p:sp>
      <p:pic>
        <p:nvPicPr>
          <p:cNvPr id="9" name="Image 0" descr="figures/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212080" cy="33467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48006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completa de valores SHAP: rojo = valor alto de la variable, azul = valor bajo. La posición horizontal muestra el impacto en la predicción.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3A444C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XGBoost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371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89120" y="2240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RMSE vs. ACI 211.1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0" y="1371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A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046720" y="2240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aportes: comparación empírica + SHAP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698480" cy="0"/>
          </a:xfrm>
          <a:prstGeom prst="line">
            <a:avLst/>
          </a:prstGeom>
          <a:noFill/>
          <a:ln w="12700">
            <a:solidFill>
              <a:srgbClr val="44505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XGBoost predice la resistencia con R²=0.917, reduciendo el error en 65.5% frente al método empírico tradicional.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SHAP tradujo el modelo en una recomendación real de dosificación — algo que los modelos de caja negra de trabajos anteriores no permitían.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validar los hallazgos con datos de mezclas peruanas, para confirmar su aplicabilidad ante agregados y cementos locales.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3A444C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5166360" y="1463040"/>
            <a:ext cx="1828800" cy="1828800"/>
          </a:xfrm>
          <a:prstGeom prst="ellipse">
            <a:avLst/>
          </a:prstGeom>
          <a:solidFill>
            <a:srgbClr val="E3A73E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4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664208"/>
            <a:ext cx="1426464" cy="1426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 gracias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preguntas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https://github.com/JFCRISOSTOMO/INGENIERIA-ESTRUCTURAL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1240</Words>
  <Application>Microsoft Office PowerPoint</Application>
  <PresentationFormat>Panorámica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 Cristian Sanchez Viguria</cp:lastModifiedBy>
  <cp:revision>2</cp:revision>
  <dcterms:created xsi:type="dcterms:W3CDTF">2026-07-23T00:13:34Z</dcterms:created>
  <dcterms:modified xsi:type="dcterms:W3CDTF">2026-07-23T01:14:46Z</dcterms:modified>
</cp:coreProperties>
</file>